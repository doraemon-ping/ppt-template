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handoutMasterIdLst>
    <p:handoutMasterId r:id="rId87"/>
  </p:handoutMasterIdLst>
  <p:sldIdLst>
    <p:sldId id="5995" r:id="rId15"/>
    <p:sldId id="5996" r:id="rId16"/>
    <p:sldId id="5997" r:id="rId17"/>
    <p:sldId id="5998" r:id="rId18"/>
    <p:sldId id="5999" r:id="rId19"/>
  </p:sldIdLst>
  <p:sldSz cx="12192000" cy="6858000"/>
  <p:notesSz cx="7104063" cy="10234613"/>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DDD3C9C-2706-411E-8042-AB713AAC6889}">
          <p14:sldIdLst>
            <p14:sldId id="3927"/>
            <p14:sldId id="5332"/>
          </p14:sldIdLst>
        </p14:section>
        <p14:section name="RFQ信息" id="{47B0C1D7-05E8-4FEA-A9EB-987546D66EFE}">
          <p14:sldIdLst>
            <p14:sldId id="4817"/>
          </p14:sldIdLst>
        </p14:section>
        <p14:section name="生产设计" id="{39FAFCB2-A9EA-40F0-A590-3D23FC5442C6}">
          <p14:sldIdLst>
            <p14:sldId id="5375"/>
            <p14:sldId id="5594"/>
            <p14:sldId id="5517"/>
            <p14:sldId id="5772"/>
            <p14:sldId id="5912"/>
            <p14:sldId id="5901"/>
            <p14:sldId id="5914"/>
            <p14:sldId id="5911"/>
            <p14:sldId id="5771"/>
            <p14:sldId id="5264"/>
            <p14:sldId id="5258"/>
            <p14:sldId id="5265"/>
            <p14:sldId id="5841"/>
            <p14:sldId id="5842"/>
            <p14:sldId id="5271"/>
            <p14:sldId id="5272"/>
            <p14:sldId id="5273"/>
            <p14:sldId id="5274"/>
            <p14:sldId id="5584"/>
            <p14:sldId id="5577"/>
            <p14:sldId id="5578"/>
            <p14:sldId id="5579"/>
            <p14:sldId id="5583"/>
            <p14:sldId id="5587"/>
            <p14:sldId id="5278"/>
            <p14:sldId id="5418"/>
            <p14:sldId id="5455"/>
            <p14:sldId id="5773"/>
            <p14:sldId id="5276"/>
            <p14:sldId id="5663"/>
            <p14:sldId id="5279"/>
            <p14:sldId id="5280"/>
            <p14:sldId id="5282"/>
            <p14:sldId id="5902"/>
            <p14:sldId id="5903"/>
            <p14:sldId id="5904"/>
            <p14:sldId id="5905"/>
            <p14:sldId id="5908"/>
            <p14:sldId id="5906"/>
            <p14:sldId id="5909"/>
            <p14:sldId id="5907"/>
            <p14:sldId id="5910"/>
            <p14:sldId id="5731"/>
            <p14:sldId id="5283"/>
            <p14:sldId id="5774"/>
            <p14:sldId id="5285"/>
            <p14:sldId id="5287"/>
            <p14:sldId id="5289"/>
            <p14:sldId id="5290"/>
            <p14:sldId id="5291"/>
            <p14:sldId id="5292"/>
            <p14:sldId id="5293"/>
            <p14:sldId id="5298"/>
            <p14:sldId id="5423"/>
            <p14:sldId id="5294"/>
            <p14:sldId id="5416"/>
            <p14:sldId id="5295"/>
            <p14:sldId id="5988"/>
            <p14:sldId id="5297"/>
            <p14:sldId id="5417"/>
            <p14:sldId id="5296"/>
            <p14:sldId id="5989"/>
            <p14:sldId id="5419"/>
            <p14:sldId id="5420"/>
            <p14:sldId id="5299"/>
            <p14:sldId id="5575"/>
            <p14:sldId id="5301"/>
            <p14:sldId id="5421"/>
            <p14:sldId id="5422"/>
            <p14:sldId id="5263"/>
            <p14:sldId id="5588"/>
            <p14:sldId id="5589"/>
          </p14:sldIdLst>
        </p14:section>
        <p14:section name="投资及产能分析" id="{6BC2A892-794F-4B0C-9750-900360C3FCC2}">
          <p14:sldIdLst/>
        </p14:section>
        <p14:section name="问题清单" id="{C7E1C9B7-3682-44C4-BC78-D4099158AB19}">
          <p14:sldIdLst>
            <p14:sldId id="4725"/>
            <p14:sldId id="5080"/>
            <p14:sldId id="5590"/>
            <p14:sldId id="5592"/>
            <p14:sldId id="5459"/>
            <p14:sldId id="5461"/>
            <p14:sldId id="5462"/>
            <p14:sldId id="4740"/>
            <p14:sldId id="4716"/>
          </p14:sldIdLst>
        </p14:section>
      </p14:sectionLst>
    </p:ext>
    <p:ext uri="{EFAFB233-063F-42B5-8137-9DF3F51BA10A}">
      <p15:sldGuideLst xmlns:p15="http://schemas.microsoft.com/office/powerpoint/2012/main">
        <p15:guide id="1" orient="horz" pos="2074" userDrawn="1">
          <p15:clr>
            <a:srgbClr val="A4A3A4"/>
          </p15:clr>
        </p15:guide>
        <p15:guide id="2" pos="37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1" name="Carlos Cortes" initials="CC" lastIdx="1" clrIdx="0"/>
  <p:cmAuthor id="2" name="张啸" initials="张啸" lastIdx="1" clrIdx="1"/>
  <p:cmAuthor id="3" name="GZXP" initials="G" lastIdx="1" clrIdx="0"/>
  <p:cmAuthor id="4" name="Xpeng" initials="X" lastIdx="3" clrIdx="2"/>
  <p:cmAuthor id="5" name="聂欢欢" initials="聂" lastIdx="8" clrIdx="4"/>
  <p:cmAuthor id="6" name="周雷英" initials="周" lastIdx="9" clrIdx="0"/>
  <p:cmAuthor id="7" name="1206988966@qq.com" initials="1" lastIdx="1" clrIdx="2"/>
  <p:cmAuthor id="8" name="姜伟光" initials="姜" lastIdx="1" clrIdx="0"/>
  <p:cmAuthor id="9" name="USER" initials="U" lastIdx="18" clrIdx="0"/>
  <p:cmAuthor id="10" name="小鹏汽车" initials="小" lastIdx="1" clrIdx="9"/>
  <p:cmAuthor id="11" name="Ed Hotard" initials="E" lastIdx="18" clrIdx="0"/>
  <p:cmAuthor id="13" name="jiangp" initials="j" lastIdx="1" clrIdx="12"/>
  <p:cmAuthor id="14" name="huanshuai" initials="h" lastIdx="1" clrIdx="13"/>
  <p:cmAuthor id="15" name="zhangya" initials="z" lastIdx="1" clrIdx="14"/>
  <p:cmAuthor id="16" name="liubinjie" initials="l" lastIdx="2" clrIdx="1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996633"/>
    <a:srgbClr val="FFFFFF"/>
    <a:srgbClr val="FFCCFF"/>
    <a:srgbClr val="666699"/>
    <a:srgbClr val="00FF00"/>
    <a:srgbClr val="FF99CC"/>
    <a:srgbClr val="6B7796"/>
    <a:srgbClr val="CCD2DD"/>
    <a:srgbClr val="D0D6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080" autoAdjust="0"/>
  </p:normalViewPr>
  <p:slideViewPr>
    <p:cSldViewPr snapToGrid="0" showGuides="1">
      <p:cViewPr varScale="1">
        <p:scale>
          <a:sx n="55" d="100"/>
          <a:sy n="55" d="100"/>
        </p:scale>
        <p:origin x="411" y="51"/>
      </p:cViewPr>
      <p:guideLst>
        <p:guide orient="horz" pos="2074"/>
        <p:guide pos="3715"/>
      </p:guideLst>
    </p:cSldViewPr>
  </p:slideViewPr>
  <p:notesTextViewPr>
    <p:cViewPr>
      <p:scale>
        <a:sx n="1" d="1"/>
        <a:sy n="1" d="1"/>
      </p:scale>
      <p:origin x="0" y="0"/>
    </p:cViewPr>
  </p:notesTextViewPr>
  <p:sorterViewPr>
    <p:cViewPr>
      <p:scale>
        <a:sx n="100" d="100"/>
        <a:sy n="100" d="100"/>
      </p:scale>
      <p:origin x="0" y="-425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tags" Target="tags/tag1.xml"/><Relationship Id="rId89" Type="http://schemas.openxmlformats.org/officeDocument/2006/relationships/commentAuthors" Target="commentAuthors.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90"/>
            </a:lvl1pPr>
          </a:lstStyle>
          <a:p>
            <a:endParaRPr lang="zh-CN" altLang="en-US"/>
          </a:p>
        </p:txBody>
      </p:sp>
      <p:sp>
        <p:nvSpPr>
          <p:cNvPr id="3" name="日期占位符 2"/>
          <p:cNvSpPr>
            <a:spLocks noGrp="1"/>
          </p:cNvSpPr>
          <p:nvPr>
            <p:ph type="dt" sz="quarter" idx="1"/>
          </p:nvPr>
        </p:nvSpPr>
        <p:spPr>
          <a:xfrm>
            <a:off x="4167998" y="0"/>
            <a:ext cx="3188595" cy="574719"/>
          </a:xfrm>
          <a:prstGeom prst="rect">
            <a:avLst/>
          </a:prstGeom>
        </p:spPr>
        <p:txBody>
          <a:bodyPr vert="horz" lIns="91440" tIns="45720" rIns="91440" bIns="45720" rtlCol="0"/>
          <a:lstStyle>
            <a:lvl1pPr algn="r">
              <a:defRPr sz="1290"/>
            </a:lvl1pPr>
          </a:lstStyle>
          <a:p>
            <a:fld id="{0F9B84EA-7D68-4D60-9CB1-D50884785D1C}" type="datetimeFigureOut">
              <a:rPr lang="zh-CN" altLang="en-US" smtClean="0"/>
              <a:t>2026/9/2</a:t>
            </a:fld>
            <a:endParaRPr lang="zh-CN" altLang="en-US"/>
          </a:p>
        </p:txBody>
      </p:sp>
      <p:sp>
        <p:nvSpPr>
          <p:cNvPr id="4" name="页脚占位符 3"/>
          <p:cNvSpPr>
            <a:spLocks noGrp="1"/>
          </p:cNvSpPr>
          <p:nvPr>
            <p:ph type="ftr" sz="quarter" idx="2"/>
          </p:nvPr>
        </p:nvSpPr>
        <p:spPr>
          <a:xfrm>
            <a:off x="0" y="10879875"/>
            <a:ext cx="3188595" cy="574718"/>
          </a:xfrm>
          <a:prstGeom prst="rect">
            <a:avLst/>
          </a:prstGeom>
        </p:spPr>
        <p:txBody>
          <a:bodyPr vert="horz" lIns="91440" tIns="45720" rIns="91440" bIns="45720" rtlCol="0" anchor="b"/>
          <a:lstStyle>
            <a:lvl1pPr algn="l">
              <a:defRPr sz="1290"/>
            </a:lvl1pPr>
          </a:lstStyle>
          <a:p>
            <a:endParaRPr lang="zh-CN" altLang="en-US"/>
          </a:p>
        </p:txBody>
      </p:sp>
      <p:sp>
        <p:nvSpPr>
          <p:cNvPr id="5" name="灯片编号占位符 4"/>
          <p:cNvSpPr>
            <a:spLocks noGrp="1"/>
          </p:cNvSpPr>
          <p:nvPr>
            <p:ph type="sldNum" sz="quarter" idx="3"/>
          </p:nvPr>
        </p:nvSpPr>
        <p:spPr>
          <a:xfrm>
            <a:off x="4167998" y="10879875"/>
            <a:ext cx="3188595" cy="574718"/>
          </a:xfrm>
          <a:prstGeom prst="rect">
            <a:avLst/>
          </a:prstGeom>
        </p:spPr>
        <p:txBody>
          <a:bodyPr vert="horz" lIns="91440" tIns="45720" rIns="91440" bIns="45720" rtlCol="0" anchor="b"/>
          <a:lstStyle>
            <a:lvl1pPr algn="r">
              <a:defRPr sz="129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8427" cy="513508"/>
          </a:xfrm>
          <a:prstGeom prst="rect">
            <a:avLst/>
          </a:prstGeom>
        </p:spPr>
        <p:txBody>
          <a:bodyPr vert="horz" lIns="99065" tIns="49532" rIns="99065" bIns="49532" rtlCol="0"/>
          <a:lstStyle>
            <a:lvl1pPr algn="l">
              <a:defRPr sz="1300"/>
            </a:lvl1pPr>
          </a:lstStyle>
          <a:p>
            <a:endParaRPr lang="zh-CN" altLang="en-US"/>
          </a:p>
        </p:txBody>
      </p:sp>
      <p:sp>
        <p:nvSpPr>
          <p:cNvPr id="3" name="日期占位符 2"/>
          <p:cNvSpPr>
            <a:spLocks noGrp="1"/>
          </p:cNvSpPr>
          <p:nvPr>
            <p:ph type="dt" idx="1"/>
          </p:nvPr>
        </p:nvSpPr>
        <p:spPr>
          <a:xfrm>
            <a:off x="4023993" y="0"/>
            <a:ext cx="3078427" cy="513508"/>
          </a:xfrm>
          <a:prstGeom prst="rect">
            <a:avLst/>
          </a:prstGeom>
        </p:spPr>
        <p:txBody>
          <a:bodyPr vert="horz" lIns="99065" tIns="49532" rIns="99065" bIns="49532" rtlCol="0"/>
          <a:lstStyle>
            <a:lvl1pPr algn="r">
              <a:defRPr sz="1300"/>
            </a:lvl1pPr>
          </a:lstStyle>
          <a:p>
            <a:fld id="{F07F0446-17FB-4764-A703-AC6ACAD4E499}" type="datetimeFigureOut">
              <a:rPr lang="zh-CN" altLang="en-US" smtClean="0"/>
              <a:t>2026/9/2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65" tIns="49532" rIns="99065" bIns="49532"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65" tIns="49532" rIns="99065" bIns="49532"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1" y="9721108"/>
            <a:ext cx="3078427" cy="513507"/>
          </a:xfrm>
          <a:prstGeom prst="rect">
            <a:avLst/>
          </a:prstGeom>
        </p:spPr>
        <p:txBody>
          <a:bodyPr vert="horz" lIns="99065" tIns="49532" rIns="99065" bIns="49532"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3" y="9721108"/>
            <a:ext cx="3078427" cy="513507"/>
          </a:xfrm>
          <a:prstGeom prst="rect">
            <a:avLst/>
          </a:prstGeom>
        </p:spPr>
        <p:txBody>
          <a:bodyPr vert="horz" lIns="99065" tIns="49532" rIns="99065" bIns="49532" rtlCol="0" anchor="b"/>
          <a:lstStyle>
            <a:lvl1pPr algn="r">
              <a:defRPr sz="1300"/>
            </a:lvl1pPr>
          </a:lstStyle>
          <a:p>
            <a:fld id="{4C56E9C9-8717-457D-879D-227C0946B0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矩形 2"/>
          <p:cNvSpPr/>
          <p:nvPr userDrawn="1"/>
        </p:nvSpPr>
        <p:spPr>
          <a:xfrm>
            <a:off x="0" y="2709041"/>
            <a:ext cx="12192000" cy="143991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a:xfrm>
            <a:off x="2614431" y="3090701"/>
            <a:ext cx="6963137" cy="676597"/>
          </a:xfrm>
          <a:prstGeom prst="rect">
            <a:avLst/>
          </a:prstGeom>
        </p:spPr>
        <p:txBody>
          <a:bodyPr anchor="ctr"/>
          <a:lstStyle>
            <a:lvl1pPr algn="ctr">
              <a:lnSpc>
                <a:spcPct val="100000"/>
              </a:lnSpc>
              <a:defRPr sz="44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节页1">
    <p:spTree>
      <p:nvGrpSpPr>
        <p:cNvPr id="1" name=""/>
        <p:cNvGrpSpPr/>
        <p:nvPr/>
      </p:nvGrpSpPr>
      <p:grpSpPr>
        <a:xfrm>
          <a:off x="0" y="0"/>
          <a:ext cx="0" cy="0"/>
          <a:chOff x="0" y="0"/>
          <a:chExt cx="0" cy="0"/>
        </a:xfrm>
      </p:grpSpPr>
      <p:sp>
        <p:nvSpPr>
          <p:cNvPr id="9" name="矩形 8"/>
          <p:cNvSpPr/>
          <p:nvPr userDrawn="1"/>
        </p:nvSpPr>
        <p:spPr>
          <a:xfrm>
            <a:off x="0" y="13119"/>
            <a:ext cx="12186592" cy="684488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2780928"/>
            <a:ext cx="12186592" cy="23762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5" name="直角三角形 4"/>
          <p:cNvSpPr/>
          <p:nvPr userDrawn="1"/>
        </p:nvSpPr>
        <p:spPr>
          <a:xfrm flipV="1">
            <a:off x="0" y="874"/>
            <a:ext cx="5400000" cy="5400000"/>
          </a:xfrm>
          <a:prstGeom prst="rtTriangl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userDrawn="1"/>
        </p:nvSpPr>
        <p:spPr>
          <a:xfrm rot="5400000" flipH="1" flipV="1">
            <a:off x="7506592" y="2178000"/>
            <a:ext cx="4680000" cy="4680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1"/>
          <p:cNvPicPr>
            <a:picLocks noChangeAspect="1" noChangeArrowheads="1"/>
          </p:cNvPicPr>
          <p:nvPr userDrawn="1"/>
        </p:nvPicPr>
        <p:blipFill>
          <a:blip r:embed="rId2" cstate="email">
            <a:extLst>
              <a:ext uri="{BEBA8EAE-BF5A-486C-A8C5-ECC9F3942E4B}">
                <a14:imgProps xmlns:a14="http://schemas.microsoft.com/office/drawing/2010/main">
                  <a14:imgLayer r:embed="rId3"/>
                </a14:imgProps>
              </a:ext>
            </a:extLst>
          </a:blip>
          <a:stretch>
            <a:fillRect/>
          </a:stretch>
        </p:blipFill>
        <p:spPr bwMode="auto">
          <a:xfrm>
            <a:off x="10164591" y="269374"/>
            <a:ext cx="2022001" cy="288000"/>
          </a:xfrm>
          <a:prstGeom prst="rect">
            <a:avLst/>
          </a:prstGeom>
          <a:noFill/>
          <a:extLst>
            <a:ext uri="{909E8E84-426E-40DD-AFC4-6F175D3DCCD1}">
              <a14:hiddenFill xmlns:a14="http://schemas.microsoft.com/office/drawing/2010/main">
                <a:solidFill>
                  <a:srgbClr val="FFFFFF"/>
                </a:solidFill>
              </a14:hiddenFill>
            </a:ext>
          </a:extLst>
        </p:spPr>
      </p:pic>
      <p:sp>
        <p:nvSpPr>
          <p:cNvPr id="12" name="标题 3"/>
          <p:cNvSpPr>
            <a:spLocks noGrp="1"/>
          </p:cNvSpPr>
          <p:nvPr>
            <p:ph type="title"/>
          </p:nvPr>
        </p:nvSpPr>
        <p:spPr>
          <a:xfrm>
            <a:off x="2341915" y="4179701"/>
            <a:ext cx="6963137" cy="676597"/>
          </a:xfrm>
          <a:prstGeom prst="rect">
            <a:avLst/>
          </a:prstGeom>
        </p:spPr>
        <p:txBody>
          <a:bodyPr anchor="ctr"/>
          <a:lstStyle>
            <a:lvl1pPr algn="r">
              <a:lnSpc>
                <a:spcPct val="100000"/>
              </a:lnSpc>
              <a:defRPr sz="3600" b="1">
                <a:solidFill>
                  <a:schemeClr val="bg1"/>
                </a:solidFill>
                <a:latin typeface="+mj-ea"/>
                <a:ea typeface="+mj-ea"/>
              </a:defRPr>
            </a:lvl1pPr>
          </a:lstStyle>
          <a:p>
            <a:r>
              <a:rPr lang="zh-CN" altLang="en-US" dirty="0"/>
              <a:t>单击此处编辑母版标题样式</a:t>
            </a:r>
          </a:p>
        </p:txBody>
      </p:sp>
      <p:sp>
        <p:nvSpPr>
          <p:cNvPr id="17" name="文本占位符 16"/>
          <p:cNvSpPr>
            <a:spLocks noGrp="1"/>
          </p:cNvSpPr>
          <p:nvPr>
            <p:ph type="body" sz="quarter" idx="12" hasCustomPrompt="1"/>
          </p:nvPr>
        </p:nvSpPr>
        <p:spPr>
          <a:xfrm>
            <a:off x="1871362" y="5276895"/>
            <a:ext cx="2952944" cy="1461402"/>
          </a:xfrm>
          <a:prstGeom prst="rect">
            <a:avLst/>
          </a:prstGeom>
        </p:spPr>
        <p:txBody>
          <a:bodyPr/>
          <a:lstStyle>
            <a:lvl1pPr>
              <a:defRPr sz="1600" baseline="0">
                <a:latin typeface="Calibri" panose="020F0502020204030204" pitchFamily="34" charset="0"/>
                <a:ea typeface="微软雅黑" panose="020B0503020204020204" pitchFamily="34" charset="-122"/>
              </a:defRPr>
            </a:lvl1pPr>
          </a:lstStyle>
          <a:p>
            <a:pPr lvl="0"/>
            <a:r>
              <a:rPr lang="zh-CN" altLang="en-US" dirty="0"/>
              <a:t>小节</a:t>
            </a:r>
            <a:r>
              <a:rPr lang="en-US" altLang="zh-CN" dirty="0"/>
              <a:t>1</a:t>
            </a:r>
          </a:p>
          <a:p>
            <a:pPr lvl="0"/>
            <a:r>
              <a:rPr lang="zh-CN" altLang="en-US" dirty="0"/>
              <a:t>小节</a:t>
            </a:r>
            <a:r>
              <a:rPr lang="en-US" altLang="zh-CN" dirty="0"/>
              <a:t>2</a:t>
            </a:r>
          </a:p>
          <a:p>
            <a:pPr lvl="0"/>
            <a:r>
              <a:rPr lang="zh-CN" altLang="en-US" dirty="0"/>
              <a:t>小节</a:t>
            </a:r>
            <a:r>
              <a:rPr lang="en-US" altLang="zh-CN" dirty="0"/>
              <a:t>3</a:t>
            </a:r>
            <a:endParaRPr lang="zh-CN" altLang="en-US" dirty="0"/>
          </a:p>
        </p:txBody>
      </p:sp>
      <p:sp>
        <p:nvSpPr>
          <p:cNvPr id="20" name="文本占位符 14"/>
          <p:cNvSpPr>
            <a:spLocks noGrp="1"/>
          </p:cNvSpPr>
          <p:nvPr>
            <p:ph type="body" sz="quarter" idx="11" hasCustomPrompt="1"/>
          </p:nvPr>
        </p:nvSpPr>
        <p:spPr>
          <a:xfrm>
            <a:off x="2558013" y="2863343"/>
            <a:ext cx="4532585" cy="676596"/>
          </a:xfrm>
          <a:prstGeom prst="rect">
            <a:avLst/>
          </a:prstGeom>
        </p:spPr>
        <p:txBody>
          <a:bodyPr anchor="ctr"/>
          <a:lstStyle>
            <a:lvl1pPr marL="0" indent="0">
              <a:lnSpc>
                <a:spcPct val="100000"/>
              </a:lnSpc>
              <a:spcBef>
                <a:spcPts val="0"/>
              </a:spcBef>
              <a:buFontTx/>
              <a:buNone/>
              <a:defRPr lang="en-US" altLang="zh-CN" sz="3600" b="0" i="0" baseline="0" smtClean="0">
                <a:solidFill>
                  <a:schemeClr val="bg1"/>
                </a:solidFill>
                <a:effectLst/>
                <a:latin typeface="微软雅黑" panose="020B0503020204020204" pitchFamily="34" charset="-122"/>
                <a:ea typeface="微软雅黑" panose="020B0503020204020204" pitchFamily="34" charset="-122"/>
                <a:cs typeface="Calibri Light" panose="020F0302020204030204" pitchFamily="34" charset="0"/>
              </a:defRPr>
            </a:lvl1pPr>
          </a:lstStyle>
          <a:p>
            <a:pPr lvl="0"/>
            <a:r>
              <a:rPr lang="en-US" altLang="zh-CN" dirty="0"/>
              <a:t>Chapter  1</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标题中英文">
    <p:spTree>
      <p:nvGrpSpPr>
        <p:cNvPr id="1" name=""/>
        <p:cNvGrpSpPr/>
        <p:nvPr/>
      </p:nvGrpSpPr>
      <p:grpSpPr>
        <a:xfrm>
          <a:off x="0" y="0"/>
          <a:ext cx="0" cy="0"/>
          <a:chOff x="0" y="0"/>
          <a:chExt cx="0" cy="0"/>
        </a:xfrm>
      </p:grpSpPr>
      <p:sp>
        <p:nvSpPr>
          <p:cNvPr id="3"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4"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标题中文">
    <p:spTree>
      <p:nvGrpSpPr>
        <p:cNvPr id="1" name=""/>
        <p:cNvGrpSpPr/>
        <p:nvPr/>
      </p:nvGrpSpPr>
      <p:grpSpPr>
        <a:xfrm>
          <a:off x="0" y="0"/>
          <a:ext cx="0" cy="0"/>
          <a:chOff x="0" y="0"/>
          <a:chExt cx="0" cy="0"/>
        </a:xfrm>
      </p:grpSpPr>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灰底标题中英文">
    <p:spTree>
      <p:nvGrpSpPr>
        <p:cNvPr id="1" name=""/>
        <p:cNvGrpSpPr/>
        <p:nvPr/>
      </p:nvGrpSpPr>
      <p:grpSpPr>
        <a:xfrm>
          <a:off x="0" y="0"/>
          <a:ext cx="0" cy="0"/>
          <a:chOff x="0" y="0"/>
          <a:chExt cx="0" cy="0"/>
        </a:xfrm>
      </p:grpSpPr>
      <p:sp>
        <p:nvSpPr>
          <p:cNvPr id="3" name="矩形 2"/>
          <p:cNvSpPr/>
          <p:nvPr userDrawn="1"/>
        </p:nvSpPr>
        <p:spPr>
          <a:xfrm>
            <a:off x="0" y="1188000"/>
            <a:ext cx="12192000" cy="5670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灰底标题中文">
    <p:spTree>
      <p:nvGrpSpPr>
        <p:cNvPr id="1" name=""/>
        <p:cNvGrpSpPr/>
        <p:nvPr/>
      </p:nvGrpSpPr>
      <p:grpSpPr>
        <a:xfrm>
          <a:off x="0" y="0"/>
          <a:ext cx="0" cy="0"/>
          <a:chOff x="0" y="0"/>
          <a:chExt cx="0" cy="0"/>
        </a:xfrm>
      </p:grpSpPr>
      <p:sp>
        <p:nvSpPr>
          <p:cNvPr id="3" name="矩形 2"/>
          <p:cNvSpPr/>
          <p:nvPr userDrawn="1"/>
        </p:nvSpPr>
        <p:spPr>
          <a:xfrm>
            <a:off x="0" y="936000"/>
            <a:ext cx="12192000" cy="5922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横线标题中英文">
    <p:spTree>
      <p:nvGrpSpPr>
        <p:cNvPr id="1" name=""/>
        <p:cNvGrpSpPr/>
        <p:nvPr/>
      </p:nvGrpSpPr>
      <p:grpSpPr>
        <a:xfrm>
          <a:off x="0" y="0"/>
          <a:ext cx="0" cy="0"/>
          <a:chOff x="0" y="0"/>
          <a:chExt cx="0" cy="0"/>
        </a:xfrm>
      </p:grpSpPr>
      <p:cxnSp>
        <p:nvCxnSpPr>
          <p:cNvPr id="4" name="直接连接符 3"/>
          <p:cNvCxnSpPr/>
          <p:nvPr userDrawn="1"/>
        </p:nvCxnSpPr>
        <p:spPr>
          <a:xfrm>
            <a:off x="0" y="1188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1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横线标题中文">
    <p:spTree>
      <p:nvGrpSpPr>
        <p:cNvPr id="1" name=""/>
        <p:cNvGrpSpPr/>
        <p:nvPr/>
      </p:nvGrpSpPr>
      <p:grpSpPr>
        <a:xfrm>
          <a:off x="0" y="0"/>
          <a:ext cx="0" cy="0"/>
          <a:chOff x="0" y="0"/>
          <a:chExt cx="0" cy="0"/>
        </a:xfrm>
      </p:grpSpPr>
      <p:cxnSp>
        <p:nvCxnSpPr>
          <p:cNvPr id="4" name="直接连接符 3"/>
          <p:cNvCxnSpPr/>
          <p:nvPr userDrawn="1"/>
        </p:nvCxnSpPr>
        <p:spPr>
          <a:xfrm>
            <a:off x="0" y="936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版式">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免责声明">
    <p:bg>
      <p:bgPr>
        <a:solidFill>
          <a:schemeClr val="bg1">
            <a:lumMod val="95000"/>
          </a:schemeClr>
        </a:solidFill>
        <a:effectLst/>
      </p:bgPr>
    </p:bg>
    <p:spTree>
      <p:nvGrpSpPr>
        <p:cNvPr id="1" name=""/>
        <p:cNvGrpSpPr/>
        <p:nvPr/>
      </p:nvGrpSpPr>
      <p:grpSpPr>
        <a:xfrm>
          <a:off x="0" y="0"/>
          <a:ext cx="0" cy="0"/>
          <a:chOff x="0" y="0"/>
          <a:chExt cx="0" cy="0"/>
        </a:xfrm>
      </p:grpSpPr>
      <p:grpSp>
        <p:nvGrpSpPr>
          <p:cNvPr id="8" name="组合 7"/>
          <p:cNvGrpSpPr/>
          <p:nvPr userDrawn="1"/>
        </p:nvGrpSpPr>
        <p:grpSpPr>
          <a:xfrm>
            <a:off x="938165" y="2951797"/>
            <a:ext cx="10315670" cy="1878996"/>
            <a:chOff x="724620" y="2908664"/>
            <a:chExt cx="10315670" cy="1878996"/>
          </a:xfrm>
        </p:grpSpPr>
        <p:sp>
          <p:nvSpPr>
            <p:cNvPr id="3" name="文本框 2"/>
            <p:cNvSpPr txBox="1"/>
            <p:nvPr/>
          </p:nvSpPr>
          <p:spPr>
            <a:xfrm>
              <a:off x="865431" y="3096212"/>
              <a:ext cx="10054090" cy="523220"/>
            </a:xfrm>
            <a:prstGeom prst="rect">
              <a:avLst/>
            </a:prstGeom>
            <a:noFill/>
          </p:spPr>
          <p:txBody>
            <a:bodyPr wrap="square" rtlCol="0">
              <a:spAutoFit/>
            </a:bodyPr>
            <a:lstStyle/>
            <a:p>
              <a:r>
                <a:rPr lang="zh-CN" altLang="zh-CN"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rPr>
                <a:t>本文件内容均属宁波拓普集团股份有限公司商业秘密，未经宁波拓普集团股份有限公司书面许可，任何以转发、展示、传阅、复印或以其他方式向无必要接触或未书面承诺承担保密义务的第三方的披露行为均属侵权。</a:t>
              </a:r>
              <a:endParaRPr lang="zh-CN" altLang="en-US"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endParaRPr>
            </a:p>
          </p:txBody>
        </p:sp>
        <p:sp>
          <p:nvSpPr>
            <p:cNvPr id="4" name="文本框 3"/>
            <p:cNvSpPr txBox="1"/>
            <p:nvPr/>
          </p:nvSpPr>
          <p:spPr>
            <a:xfrm>
              <a:off x="865429" y="3834876"/>
              <a:ext cx="10174861" cy="738664"/>
            </a:xfrm>
            <a:prstGeom prst="rect">
              <a:avLst/>
            </a:prstGeom>
            <a:noFill/>
          </p:spPr>
          <p:txBody>
            <a:bodyPr wrap="square" rtlCol="0">
              <a:spAutoFit/>
            </a:bodyPr>
            <a:lstStyle/>
            <a:p>
              <a:r>
                <a:rPr lang="en-US"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rPr>
                <a:t>The information contained in this document contain privileged and confidential information. Without the written permission of NINGBO TUOPU GROUP CO., LTD., any disclosure by forwarding, displaying, distribution, copying or any other methods to a third party who has no necessary access or has not promised to assume confidentiality obligations in writing is an infringement. </a:t>
              </a:r>
              <a:endParaRPr lang="zh-CN"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endParaRPr>
            </a:p>
          </p:txBody>
        </p:sp>
        <p:sp>
          <p:nvSpPr>
            <p:cNvPr id="5" name="矩形: 圆角 4"/>
            <p:cNvSpPr/>
            <p:nvPr/>
          </p:nvSpPr>
          <p:spPr>
            <a:xfrm>
              <a:off x="724620" y="2908664"/>
              <a:ext cx="10315670" cy="1878996"/>
            </a:xfrm>
            <a:prstGeom prst="roundRect">
              <a:avLst>
                <a:gd name="adj" fmla="val 9596"/>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userDrawn="1"/>
        </p:nvSpPr>
        <p:spPr>
          <a:xfrm>
            <a:off x="3471405" y="1719250"/>
            <a:ext cx="5269231" cy="769441"/>
          </a:xfrm>
          <a:prstGeom prst="rect">
            <a:avLst/>
          </a:prstGeom>
          <a:noFill/>
        </p:spPr>
        <p:txBody>
          <a:bodyPr wrap="square" rtlCol="0">
            <a:spAutoFit/>
          </a:bodyPr>
          <a:lstStyle/>
          <a:p>
            <a:pPr algn="dist"/>
            <a:r>
              <a:rPr lang="en-US" altLang="zh-CN" sz="4400" b="1" dirty="0">
                <a:solidFill>
                  <a:srgbClr val="0070C0"/>
                </a:solidFill>
                <a:ea typeface="微软雅黑 Light" panose="020B0502040204020203" pitchFamily="34" charset="-122"/>
                <a:cs typeface="Arial" panose="020B0604020202020204" pitchFamily="34" charset="0"/>
              </a:rPr>
              <a:t>Thank You! </a:t>
            </a:r>
            <a:r>
              <a:rPr lang="zh-CN" altLang="en-US" sz="4400" dirty="0">
                <a:solidFill>
                  <a:srgbClr val="0070C0"/>
                </a:solidFill>
                <a:latin typeface="微软雅黑" panose="020B0503020204020204" pitchFamily="34" charset="-122"/>
                <a:ea typeface="微软雅黑" panose="020B0503020204020204" pitchFamily="34" charset="-122"/>
              </a:rPr>
              <a:t>谢谢</a:t>
            </a:r>
            <a:r>
              <a:rPr lang="en-US" altLang="zh-CN" sz="4400" dirty="0">
                <a:solidFill>
                  <a:srgbClr val="0070C0"/>
                </a:solidFill>
                <a:latin typeface="微软雅黑" panose="020B0503020204020204" pitchFamily="34" charset="-122"/>
                <a:ea typeface="微软雅黑" panose="020B0503020204020204" pitchFamily="34" charset="-122"/>
              </a:rPr>
              <a:t>!</a:t>
            </a:r>
            <a:endParaRPr lang="zh-CN" altLang="en-US" sz="4400" dirty="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灰底2">
    <p:spTree>
      <p:nvGrpSpPr>
        <p:cNvPr id="1" name=""/>
        <p:cNvGrpSpPr/>
        <p:nvPr/>
      </p:nvGrpSpPr>
      <p:grpSpPr>
        <a:xfrm>
          <a:off x="0" y="0"/>
          <a:ext cx="0" cy="0"/>
          <a:chOff x="0" y="0"/>
          <a:chExt cx="0" cy="0"/>
        </a:xfrm>
      </p:grpSpPr>
      <p:sp>
        <p:nvSpPr>
          <p:cNvPr id="2" name="Shape 327"/>
          <p:cNvSpPr>
            <a:spLocks noChangeArrowheads="1"/>
          </p:cNvSpPr>
          <p:nvPr userDrawn="1"/>
        </p:nvSpPr>
        <p:spPr bwMode="auto">
          <a:xfrm>
            <a:off x="-3175" y="901715"/>
            <a:ext cx="12195175" cy="595628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5" tIns="22856" rIns="45725" bIns="22856" anchor="ctr"/>
          <a:lstStyle>
            <a:lvl1pPr>
              <a:defRPr sz="700">
                <a:solidFill>
                  <a:srgbClr val="000000"/>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sz="700">
                <a:solidFill>
                  <a:srgbClr val="000000"/>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9pPr>
          </a:lstStyle>
          <a:p>
            <a:pPr algn="ctr" eaLnBrk="1" hangingPunct="1"/>
            <a:endParaRPr lang="zh-CN" altLang="zh-CN" sz="2700">
              <a:solidFill>
                <a:srgbClr val="FFFFFF"/>
              </a:solidFill>
              <a:latin typeface="微软雅黑" panose="020B0503020204020204" pitchFamily="34" charset="-122"/>
              <a:ea typeface="微软雅黑" panose="020B0503020204020204" pitchFamily="34" charset="-122"/>
              <a:sym typeface="Montserrat" panose="02010600030101010101" charset="-122"/>
            </a:endParaRPr>
          </a:p>
        </p:txBody>
      </p:sp>
      <p:sp>
        <p:nvSpPr>
          <p:cNvPr id="4" name="Date Placeholder 3"/>
          <p:cNvSpPr>
            <a:spLocks noGrp="1"/>
          </p:cNvSpPr>
          <p:nvPr>
            <p:ph type="dt" sz="half" idx="10"/>
          </p:nvPr>
        </p:nvSpPr>
        <p:spPr>
          <a:xfrm>
            <a:off x="838200" y="6356350"/>
            <a:ext cx="2743200" cy="365125"/>
          </a:xfrm>
        </p:spPr>
        <p:txBody>
          <a:bodyPr/>
          <a:lstStyle>
            <a:lvl1pPr>
              <a:defRPr>
                <a:latin typeface="+mn-ea"/>
                <a:ea typeface="+mn-ea"/>
              </a:defRPr>
            </a:lvl1pPr>
          </a:lstStyle>
          <a:p>
            <a:pPr>
              <a:defRPr/>
            </a:pPr>
            <a:fld id="{045A3C54-1C0C-46EF-92A3-AC4C47C373C6}"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p:spPr>
        <p:txBody>
          <a:bodyPr/>
          <a:lstStyle>
            <a:lvl1pPr>
              <a:defRPr>
                <a:latin typeface="+mn-ea"/>
                <a:ea typeface="+mn-ea"/>
              </a:defRPr>
            </a:lvl1pPr>
          </a:lstStyle>
          <a:p>
            <a:pPr>
              <a:defRPr/>
            </a:pPr>
            <a:endParaRPr lang="en-US"/>
          </a:p>
        </p:txBody>
      </p:sp>
      <p:sp>
        <p:nvSpPr>
          <p:cNvPr id="9" name="Title Placeholder 1"/>
          <p:cNvSpPr>
            <a:spLocks noGrp="1"/>
          </p:cNvSpPr>
          <p:nvPr>
            <p:ph type="title"/>
          </p:nvPr>
        </p:nvSpPr>
        <p:spPr bwMode="auto">
          <a:xfrm>
            <a:off x="277585" y="198906"/>
            <a:ext cx="6607629" cy="7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a:defRPr sz="3200" b="1">
                <a:solidFill>
                  <a:srgbClr val="0070C0"/>
                </a:solidFill>
                <a:latin typeface="微软雅黑 Light" panose="020B0502040204020203" pitchFamily="34" charset="-122"/>
                <a:ea typeface="微软雅黑 Light" panose="020B0502040204020203" pitchFamily="34" charset="-122"/>
              </a:defRPr>
            </a:lvl1pPr>
          </a:lstStyle>
          <a:p>
            <a:pPr lvl="0"/>
            <a:r>
              <a:rPr lang="zh-CN" altLang="en-US" dirty="0"/>
              <a:t>单击此处编辑母版标题样式</a:t>
            </a:r>
            <a:endParaRPr lang="en-US" altLang="zh-CN" dirty="0"/>
          </a:p>
        </p:txBody>
      </p:sp>
      <p:sp>
        <p:nvSpPr>
          <p:cNvPr id="8" name="Shape 12"/>
          <p:cNvSpPr txBox="1"/>
          <p:nvPr userDrawn="1"/>
        </p:nvSpPr>
        <p:spPr>
          <a:xfrm>
            <a:off x="11059063" y="6416675"/>
            <a:ext cx="780511" cy="230188"/>
          </a:xfrm>
          <a:prstGeom prst="rect">
            <a:avLst/>
          </a:prstGeom>
          <a:noFill/>
          <a:ln>
            <a:noFill/>
          </a:ln>
        </p:spPr>
        <p:txBody>
          <a:bodyPr lIns="91437" tIns="45712" rIns="91437" bIns="45712"/>
          <a:lstStyle/>
          <a:p>
            <a:pPr algn="ctr" eaLnBrk="1" fontAlgn="auto" hangingPunct="1">
              <a:spcBef>
                <a:spcPts val="0"/>
              </a:spcBef>
              <a:buSzPct val="25000"/>
              <a:defRPr/>
            </a:pPr>
            <a:r>
              <a:rPr lang="en-US" altLang="zh-CN" sz="900" noProof="1">
                <a:solidFill>
                  <a:schemeClr val="bg2">
                    <a:lumMod val="75000"/>
                  </a:schemeClr>
                </a:solidFill>
                <a:latin typeface="+mn-ea"/>
                <a:ea typeface="+mn-ea"/>
                <a:cs typeface="Arial" panose="020B0604020202020204"/>
              </a:rPr>
              <a:t>-</a:t>
            </a:r>
            <a:r>
              <a:rPr lang="zh-CN" altLang="en-US" sz="900" noProof="1">
                <a:solidFill>
                  <a:schemeClr val="bg2">
                    <a:lumMod val="75000"/>
                  </a:schemeClr>
                </a:solidFill>
                <a:latin typeface="+mn-ea"/>
                <a:ea typeface="+mn-ea"/>
                <a:cs typeface="Arial" panose="020B0604020202020204"/>
              </a:rPr>
              <a:t>机密</a:t>
            </a:r>
            <a:r>
              <a:rPr lang="en-US" altLang="zh-CN" sz="900" noProof="1">
                <a:solidFill>
                  <a:schemeClr val="bg2">
                    <a:lumMod val="75000"/>
                  </a:schemeClr>
                </a:solidFill>
                <a:latin typeface="+mn-ea"/>
                <a:ea typeface="+mn-ea"/>
                <a:cs typeface="Arial" panose="020B0604020202020204"/>
              </a:rPr>
              <a:t>-</a:t>
            </a:r>
            <a:fld id="{AF1B3421-6687-4557-9850-46E6B85FC5CE}" type="slidenum">
              <a:rPr lang="en-US" altLang="zh-CN" sz="900" noProof="1" smtClean="0">
                <a:solidFill>
                  <a:schemeClr val="bg2">
                    <a:lumMod val="75000"/>
                  </a:schemeClr>
                </a:solidFill>
                <a:latin typeface="+mn-ea"/>
                <a:ea typeface="+mn-ea"/>
                <a:cs typeface="Arial" panose="020B0604020202020204"/>
              </a:rPr>
              <a:t>‹#›</a:t>
            </a:fld>
            <a:r>
              <a:rPr lang="en-US" sz="900" noProof="1">
                <a:ln w="0"/>
                <a:solidFill>
                  <a:schemeClr val="bg2">
                    <a:lumMod val="75000"/>
                  </a:schemeClr>
                </a:solidFill>
                <a:effectLst>
                  <a:outerShdw blurRad="38100" dist="25400" dir="5400000" algn="ctr" rotWithShape="0">
                    <a:srgbClr val="6E747A">
                      <a:alpha val="43000"/>
                    </a:srgbClr>
                  </a:outerShdw>
                </a:effectLst>
                <a:latin typeface="+mn-ea"/>
                <a:ea typeface="+mn-ea"/>
                <a:cs typeface="Montserrat"/>
                <a:sym typeface="Montserrat"/>
              </a:rPr>
              <a:t>  </a:t>
            </a:r>
          </a:p>
        </p:txBody>
      </p:sp>
    </p:spTree>
  </p:cSld>
  <p:clrMapOvr>
    <a:masterClrMapping/>
  </p:clrMapOvr>
  <p:transition/>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descr="InsertPic_86D9(07-31-15-29-36)"/>
          <p:cNvPicPr>
            <a:picLocks noChangeAspect="1"/>
          </p:cNvPicPr>
          <p:nvPr userDrawn="1"/>
        </p:nvPicPr>
        <p:blipFill>
          <a:blip r:embed="rId14">
            <a:clrChange>
              <a:clrFrom>
                <a:srgbClr val="FFFFFF">
                  <a:alpha val="100000"/>
                </a:srgbClr>
              </a:clrFrom>
              <a:clrTo>
                <a:srgbClr val="FFFFFF">
                  <a:alpha val="100000"/>
                  <a:alpha val="0"/>
                </a:srgbClr>
              </a:clrTo>
            </a:clrChange>
          </a:blip>
          <a:stretch>
            <a:fillRect/>
          </a:stretch>
        </p:blipFill>
        <p:spPr>
          <a:xfrm>
            <a:off x="9709785" y="64135"/>
            <a:ext cx="2323465" cy="3308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ags" Target="../tags/tag4.xml"/><Relationship Id="rId3" Type="http://schemas.openxmlformats.org/officeDocument/2006/relationships/tags" Target="../tags/tag3.xml"/><Relationship Id="rId4" Type="http://schemas.openxmlformats.org/officeDocument/2006/relationships/tags" Target="../tags/tag2.xml"/><Relationship Id="rId5" Type="http://schemas.openxmlformats.org/officeDocument/2006/relationships/image" Target="../media/image1.png"/><Relationship Id="rId6"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218" name="PA_形状 25"/>
          <p:cNvPicPr preferRelativeResize="0">
            <a:picLocks noChangeAspect="1" noChangeArrowheads="1"/>
          </p:cNvPicPr>
          <p:nvPr>
            <p:custDataLst>
              <p:tags r:id="rId4"/>
            </p:custDataLst>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descr="InsertPic_86D9(07-31-15-29-36)"/>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4032250" y="650875"/>
            <a:ext cx="4606290" cy="655320"/>
          </a:xfrm>
          <a:prstGeom prst="rect">
            <a:avLst/>
          </a:prstGeom>
        </p:spPr>
      </p:pic>
      <p:sp>
        <p:nvSpPr>
          <p:cNvPr id="9220" name="DFM_TITLE"/>
          <p:cNvSpPr txBox="1"/>
          <p:nvPr/>
        </p:nvSpPr>
        <p:spPr>
          <a:xfrm>
            <a:off x="3657600" y="2331720"/>
            <a:ext cx="4892040" cy="640080"/>
          </a:xfrm>
          <a:prstGeom prst="rect">
            <a:avLst/>
          </a:prstGeom>
          <a:noFill/>
          <a:ln>
            <a:noFill/>
          </a:ln>
        </p:spPr>
        <p:txBody>
          <a:bodyPr wrap="square" anchor="ctr" lIns="76200" rIns="76200" tIns="25400" bIns="25400">
            <a:spAutoFit/>
          </a:bodyPr>
          <a:lstStyle/>
          <a:p>
            <a:pPr algn="ctr"/>
            <a:r>
              <a:rPr sz="3200" b="1">
                <a:solidFill>
                  <a:srgbClr val="002B67"/>
                </a:solidFill>
                <a:latin typeface="微软雅黑"/>
              </a:rPr>
              <a:t>TP-HPDC-2026-0087</a:t>
            </a:r>
          </a:p>
        </p:txBody>
      </p:sp>
      <p:sp>
        <p:nvSpPr>
          <p:cNvPr id="9221" name="STATIC_DFM"/>
          <p:cNvSpPr txBox="1"/>
          <p:nvPr/>
        </p:nvSpPr>
        <p:spPr>
          <a:xfrm>
            <a:off x="3657600" y="2926080"/>
            <a:ext cx="4892040" cy="502920"/>
          </a:xfrm>
          <a:prstGeom prst="rect">
            <a:avLst/>
          </a:prstGeom>
          <a:noFill/>
          <a:ln>
            <a:noFill/>
          </a:ln>
        </p:spPr>
        <p:txBody>
          <a:bodyPr wrap="square" anchor="ctr" lIns="76200" rIns="76200" tIns="25400" bIns="25400">
            <a:spAutoFit/>
          </a:bodyPr>
          <a:lstStyle/>
          <a:p>
            <a:pPr algn="ctr"/>
            <a:r>
              <a:rPr sz="2800" b="1">
                <a:solidFill>
                  <a:srgbClr val="002B67"/>
                </a:solidFill>
                <a:latin typeface="微软雅黑"/>
              </a:rPr>
              <a:t>DFM</a:t>
            </a:r>
          </a:p>
        </p:txBody>
      </p:sp>
      <p:sp>
        <p:nvSpPr>
          <p:cNvPr id="9222" name="PROJECT_NAME"/>
          <p:cNvSpPr txBox="1"/>
          <p:nvPr/>
        </p:nvSpPr>
        <p:spPr>
          <a:xfrm>
            <a:off x="3337560" y="3584448"/>
            <a:ext cx="5532120" cy="365760"/>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某新能源汽车后纵梁支架</a:t>
            </a:r>
          </a:p>
        </p:txBody>
      </p:sp>
      <p:sp>
        <p:nvSpPr>
          <p:cNvPr id="9223" name="PART_NAME"/>
          <p:cNvSpPr txBox="1"/>
          <p:nvPr/>
        </p:nvSpPr>
        <p:spPr>
          <a:xfrm>
            <a:off x="3337560" y="3950208"/>
            <a:ext cx="5532120" cy="329184"/>
          </a:xfrm>
          <a:prstGeom prst="rect">
            <a:avLst/>
          </a:prstGeom>
          <a:noFill/>
          <a:ln>
            <a:noFill/>
          </a:ln>
        </p:spPr>
        <p:txBody>
          <a:bodyPr wrap="square" anchor="ctr" lIns="76200" rIns="76200" tIns="25400" bIns="25400">
            <a:spAutoFit/>
          </a:bodyPr>
          <a:lstStyle/>
          <a:p>
            <a:pPr algn="ctr"/>
            <a:r>
              <a:rPr sz="1400" b="0">
                <a:solidFill>
                  <a:srgbClr val="002B67"/>
                </a:solidFill>
                <a:latin typeface="微软雅黑"/>
              </a:rPr>
              <a:t>Rear Longitudinal Bracket</a:t>
            </a:r>
          </a:p>
        </p:txBody>
      </p:sp>
      <p:sp>
        <p:nvSpPr>
          <p:cNvPr id="9224" name="PART_NUMBER"/>
          <p:cNvSpPr txBox="1"/>
          <p:nvPr/>
        </p:nvSpPr>
        <p:spPr>
          <a:xfrm>
            <a:off x="3337560" y="4279392"/>
            <a:ext cx="5532120" cy="310896"/>
          </a:xfrm>
          <a:prstGeom prst="rect">
            <a:avLst/>
          </a:prstGeom>
          <a:noFill/>
          <a:ln>
            <a:noFill/>
          </a:ln>
        </p:spPr>
        <p:txBody>
          <a:bodyPr wrap="square" anchor="ctr" lIns="76200" rIns="76200" tIns="25400" bIns="25400">
            <a:spAutoFit/>
          </a:bodyPr>
          <a:lstStyle/>
          <a:p>
            <a:pPr algn="ctr"/>
            <a:r>
              <a:rPr sz="1200" b="0">
                <a:solidFill>
                  <a:srgbClr val="002B67"/>
                </a:solidFill>
                <a:latin typeface="微软雅黑"/>
              </a:rPr>
              <a:t>TP-HPDC-2026-0087</a:t>
            </a:r>
          </a:p>
        </p:txBody>
      </p:sp>
      <p:sp>
        <p:nvSpPr>
          <p:cNvPr id="9225" name="REPORT_DATE"/>
          <p:cNvSpPr txBox="1"/>
          <p:nvPr/>
        </p:nvSpPr>
        <p:spPr>
          <a:xfrm>
            <a:off x="4617720" y="5230368"/>
            <a:ext cx="2971800" cy="457200"/>
          </a:xfrm>
          <a:prstGeom prst="rect">
            <a:avLst/>
          </a:prstGeom>
          <a:noFill/>
          <a:ln>
            <a:noFill/>
          </a:ln>
        </p:spPr>
        <p:txBody>
          <a:bodyPr wrap="square" anchor="ctr" lIns="76200" rIns="76200" tIns="25400" bIns="25400">
            <a:spAutoFit/>
          </a:bodyPr>
          <a:lstStyle/>
          <a:p>
            <a:pPr algn="ctr"/>
            <a:r>
              <a:rPr sz="2000" b="1">
                <a:solidFill>
                  <a:srgbClr val="002B67"/>
                </a:solidFill>
                <a:latin typeface="微软雅黑"/>
              </a:rPr>
              <a:t>2026-09-01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TATIC_SUMMARY_TITLE"/>
          <p:cNvSpPr txBox="1"/>
          <p:nvPr/>
        </p:nvSpPr>
        <p:spPr>
          <a:xfrm>
            <a:off x="502920" y="411480"/>
            <a:ext cx="5486400" cy="548640"/>
          </a:xfrm>
          <a:prstGeom prst="rect">
            <a:avLst/>
          </a:prstGeom>
          <a:noFill/>
          <a:ln>
            <a:noFill/>
          </a:ln>
        </p:spPr>
        <p:txBody>
          <a:bodyPr wrap="square" anchor="ctr" lIns="76200" rIns="76200" tIns="25400" bIns="25400">
            <a:spAutoFit/>
          </a:bodyPr>
          <a:lstStyle/>
          <a:p>
            <a:pPr algn="l"/>
            <a:r>
              <a:rPr sz="2600" b="1">
                <a:solidFill>
                  <a:srgbClr val="002B67"/>
                </a:solidFill>
                <a:latin typeface="微软雅黑"/>
              </a:rPr>
              <a:t>DFM 问题汇总</a:t>
            </a:r>
          </a:p>
        </p:txBody>
      </p:sp>
      <p:sp>
        <p:nvSpPr>
          <p:cNvPr id="4" name="CARD_SUMMARY_TOTAL"/>
          <p:cNvSpPr/>
          <p:nvPr/>
        </p:nvSpPr>
        <p:spPr>
          <a:xfrm>
            <a:off x="594360" y="1874519"/>
            <a:ext cx="2240280" cy="2514600"/>
          </a:xfrm>
          <a:prstGeom prst="rect">
            <a:avLst/>
          </a:prstGeom>
          <a:solidFill>
            <a:srgbClr val="E9F4FB"/>
          </a:solidFill>
          <a:ln w="15240">
            <a:solidFill>
              <a:srgbClr val="002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EL_SUMMARY_TOTAL"/>
          <p:cNvSpPr txBox="1"/>
          <p:nvPr/>
        </p:nvSpPr>
        <p:spPr>
          <a:xfrm>
            <a:off x="731520" y="2148840"/>
            <a:ext cx="1965960" cy="438912"/>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问题总数</a:t>
            </a:r>
          </a:p>
        </p:txBody>
      </p:sp>
      <p:sp>
        <p:nvSpPr>
          <p:cNvPr id="6" name="SUMMARY_TOTAL"/>
          <p:cNvSpPr txBox="1"/>
          <p:nvPr/>
        </p:nvSpPr>
        <p:spPr>
          <a:xfrm>
            <a:off x="731520" y="2788920"/>
            <a:ext cx="1965960" cy="1005840"/>
          </a:xfrm>
          <a:prstGeom prst="rect">
            <a:avLst/>
          </a:prstGeom>
          <a:noFill/>
          <a:ln>
            <a:noFill/>
          </a:ln>
        </p:spPr>
        <p:txBody>
          <a:bodyPr wrap="square" anchor="ctr" lIns="76200" rIns="76200" tIns="25400" bIns="25400">
            <a:spAutoFit/>
          </a:bodyPr>
          <a:lstStyle/>
          <a:p>
            <a:pPr algn="ctr"/>
            <a:r>
              <a:rPr sz="4200" b="1">
                <a:solidFill>
                  <a:srgbClr val="002B67"/>
                </a:solidFill>
                <a:latin typeface="微软雅黑"/>
              </a:rPr>
              <a:t>2</a:t>
            </a:r>
          </a:p>
        </p:txBody>
      </p:sp>
      <p:sp>
        <p:nvSpPr>
          <p:cNvPr id="7" name="CARD_SUMMARY_CRITICAL"/>
          <p:cNvSpPr/>
          <p:nvPr/>
        </p:nvSpPr>
        <p:spPr>
          <a:xfrm>
            <a:off x="3520440" y="1874519"/>
            <a:ext cx="2240280" cy="2514600"/>
          </a:xfrm>
          <a:prstGeom prst="rect">
            <a:avLst/>
          </a:prstGeom>
          <a:solidFill>
            <a:srgbClr val="FDE9E7"/>
          </a:solidFill>
          <a:ln w="1524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EL_SUMMARY_CRITICAL"/>
          <p:cNvSpPr txBox="1"/>
          <p:nvPr/>
        </p:nvSpPr>
        <p:spPr>
          <a:xfrm>
            <a:off x="3657600" y="2148840"/>
            <a:ext cx="1965960" cy="438912"/>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Critical</a:t>
            </a:r>
          </a:p>
        </p:txBody>
      </p:sp>
      <p:sp>
        <p:nvSpPr>
          <p:cNvPr id="9" name="SUMMARY_CRITICAL"/>
          <p:cNvSpPr txBox="1"/>
          <p:nvPr/>
        </p:nvSpPr>
        <p:spPr>
          <a:xfrm>
            <a:off x="3657600" y="2788920"/>
            <a:ext cx="1965960" cy="1005840"/>
          </a:xfrm>
          <a:prstGeom prst="rect">
            <a:avLst/>
          </a:prstGeom>
          <a:noFill/>
          <a:ln>
            <a:noFill/>
          </a:ln>
        </p:spPr>
        <p:txBody>
          <a:bodyPr wrap="square" anchor="ctr" lIns="76200" rIns="76200" tIns="25400" bIns="25400">
            <a:spAutoFit/>
          </a:bodyPr>
          <a:lstStyle/>
          <a:p>
            <a:pPr algn="ctr"/>
            <a:r>
              <a:rPr sz="4200" b="1">
                <a:solidFill>
                  <a:srgbClr val="C00000"/>
                </a:solidFill>
                <a:latin typeface="微软雅黑"/>
              </a:rPr>
              <a:t>0</a:t>
            </a:r>
          </a:p>
        </p:txBody>
      </p:sp>
      <p:sp>
        <p:nvSpPr>
          <p:cNvPr id="10" name="CARD_SUMMARY_MAJOR"/>
          <p:cNvSpPr/>
          <p:nvPr/>
        </p:nvSpPr>
        <p:spPr>
          <a:xfrm>
            <a:off x="6446520" y="1874519"/>
            <a:ext cx="2240280" cy="2514600"/>
          </a:xfrm>
          <a:prstGeom prst="rect">
            <a:avLst/>
          </a:prstGeom>
          <a:solidFill>
            <a:srgbClr val="FFF2CC"/>
          </a:solidFill>
          <a:ln w="15240">
            <a:solidFill>
              <a:srgbClr val="BF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ABEL_SUMMARY_MAJOR"/>
          <p:cNvSpPr txBox="1"/>
          <p:nvPr/>
        </p:nvSpPr>
        <p:spPr>
          <a:xfrm>
            <a:off x="6583680" y="2148840"/>
            <a:ext cx="1965960" cy="438912"/>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Major</a:t>
            </a:r>
          </a:p>
        </p:txBody>
      </p:sp>
      <p:sp>
        <p:nvSpPr>
          <p:cNvPr id="12" name="SUMMARY_MAJOR"/>
          <p:cNvSpPr txBox="1"/>
          <p:nvPr/>
        </p:nvSpPr>
        <p:spPr>
          <a:xfrm>
            <a:off x="6583680" y="2788920"/>
            <a:ext cx="1965960" cy="1005840"/>
          </a:xfrm>
          <a:prstGeom prst="rect">
            <a:avLst/>
          </a:prstGeom>
          <a:noFill/>
          <a:ln>
            <a:noFill/>
          </a:ln>
        </p:spPr>
        <p:txBody>
          <a:bodyPr wrap="square" anchor="ctr" lIns="76200" rIns="76200" tIns="25400" bIns="25400">
            <a:spAutoFit/>
          </a:bodyPr>
          <a:lstStyle/>
          <a:p>
            <a:pPr algn="ctr"/>
            <a:r>
              <a:rPr sz="4200" b="1">
                <a:solidFill>
                  <a:srgbClr val="BF7600"/>
                </a:solidFill>
                <a:latin typeface="微软雅黑"/>
              </a:rPr>
              <a:t>0</a:t>
            </a:r>
          </a:p>
        </p:txBody>
      </p:sp>
      <p:sp>
        <p:nvSpPr>
          <p:cNvPr id="13" name="CARD_SUMMARY_MINOR"/>
          <p:cNvSpPr/>
          <p:nvPr/>
        </p:nvSpPr>
        <p:spPr>
          <a:xfrm>
            <a:off x="9372600" y="1874519"/>
            <a:ext cx="2240280" cy="2514600"/>
          </a:xfrm>
          <a:prstGeom prst="rect">
            <a:avLst/>
          </a:prstGeom>
          <a:solidFill>
            <a:srgbClr val="E2F0D9"/>
          </a:solidFill>
          <a:ln w="15240">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_SUMMARY_MINOR"/>
          <p:cNvSpPr txBox="1"/>
          <p:nvPr/>
        </p:nvSpPr>
        <p:spPr>
          <a:xfrm>
            <a:off x="9509760" y="2148840"/>
            <a:ext cx="1965960" cy="438912"/>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Minor</a:t>
            </a:r>
          </a:p>
        </p:txBody>
      </p:sp>
      <p:sp>
        <p:nvSpPr>
          <p:cNvPr id="15" name="SUMMARY_MINOR"/>
          <p:cNvSpPr txBox="1"/>
          <p:nvPr/>
        </p:nvSpPr>
        <p:spPr>
          <a:xfrm>
            <a:off x="9509760" y="2788920"/>
            <a:ext cx="1965960" cy="1005840"/>
          </a:xfrm>
          <a:prstGeom prst="rect">
            <a:avLst/>
          </a:prstGeom>
          <a:noFill/>
          <a:ln>
            <a:noFill/>
          </a:ln>
        </p:spPr>
        <p:txBody>
          <a:bodyPr wrap="square" anchor="ctr" lIns="76200" rIns="76200" tIns="25400" bIns="25400">
            <a:spAutoFit/>
          </a:bodyPr>
          <a:lstStyle/>
          <a:p>
            <a:pPr algn="ctr"/>
            <a:r>
              <a:rPr sz="4200" b="1">
                <a:solidFill>
                  <a:srgbClr val="548235"/>
                </a:solidFill>
                <a:latin typeface="微软雅黑"/>
              </a:rPr>
              <a:t>0</a:t>
            </a:r>
          </a:p>
        </p:txBody>
      </p:sp>
      <p:sp>
        <p:nvSpPr>
          <p:cNvPr id="16" name="STATIC_SUMMARY_NOTE"/>
          <p:cNvSpPr txBox="1"/>
          <p:nvPr/>
        </p:nvSpPr>
        <p:spPr>
          <a:xfrm>
            <a:off x="594360" y="4983480"/>
            <a:ext cx="11018520" cy="411480"/>
          </a:xfrm>
          <a:prstGeom prst="rect">
            <a:avLst/>
          </a:prstGeom>
          <a:noFill/>
          <a:ln>
            <a:noFill/>
          </a:ln>
        </p:spPr>
        <p:txBody>
          <a:bodyPr wrap="square" anchor="ctr" lIns="76200" rIns="76200" tIns="25400" bIns="25400">
            <a:spAutoFit/>
          </a:bodyPr>
          <a:lstStyle/>
          <a:p>
            <a:pPr algn="ctr"/>
            <a:r>
              <a:rPr sz="1300" b="0">
                <a:solidFill>
                  <a:srgbClr val="666666"/>
                </a:solidFill>
                <a:latin typeface="微软雅黑"/>
              </a:rPr>
              <a:t>按问题严重度自动统计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ISSUE_TITLE"/>
          <p:cNvSpPr txBox="1"/>
          <p:nvPr/>
        </p:nvSpPr>
        <p:spPr>
          <a:xfrm>
            <a:off x="502920" y="274320"/>
            <a:ext cx="8412480" cy="530352"/>
          </a:xfrm>
          <a:prstGeom prst="rect">
            <a:avLst/>
          </a:prstGeom>
          <a:noFill/>
          <a:ln>
            <a:noFill/>
          </a:ln>
        </p:spPr>
        <p:txBody>
          <a:bodyPr wrap="square" anchor="ctr" lIns="76200" rIns="76200" tIns="25400" bIns="25400">
            <a:spAutoFit/>
          </a:bodyPr>
          <a:lstStyle/>
          <a:p>
            <a:pPr algn="l"/>
            <a:r>
              <a:rPr sz="2400" b="1">
                <a:solidFill>
                  <a:srgbClr val="002B67"/>
                </a:solidFill>
                <a:latin typeface="微软雅黑"/>
              </a:rPr>
              <a:t>肋端最大壁厚 28.5 mm，存在热节与缩孔风险（ASTM E505 Level 4）</a:t>
            </a:r>
          </a:p>
        </p:txBody>
      </p:sp>
      <p:sp>
        <p:nvSpPr>
          <p:cNvPr id="4" name="ISSUE_ID"/>
          <p:cNvSpPr txBox="1"/>
          <p:nvPr/>
        </p:nvSpPr>
        <p:spPr>
          <a:xfrm>
            <a:off x="9281160" y="310896"/>
            <a:ext cx="1234440" cy="384048"/>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1</a:t>
            </a:r>
          </a:p>
        </p:txBody>
      </p:sp>
      <p:sp>
        <p:nvSpPr>
          <p:cNvPr id="5" name="ISSUE_LEVEL"/>
          <p:cNvSpPr txBox="1"/>
          <p:nvPr/>
        </p:nvSpPr>
        <p:spPr>
          <a:xfrm>
            <a:off x="10652760" y="310896"/>
            <a:ext cx="1005840" cy="384048"/>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Unknown</a:t>
            </a:r>
          </a:p>
        </p:txBody>
      </p:sp>
      <p:sp>
        <p:nvSpPr>
          <p:cNvPr id="6" name="STATIC_DESC"/>
          <p:cNvSpPr txBox="1"/>
          <p:nvPr/>
        </p:nvSpPr>
        <p:spPr>
          <a:xfrm>
            <a:off x="502920" y="1024128"/>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问题描述</a:t>
            </a:r>
          </a:p>
        </p:txBody>
      </p:sp>
      <p:sp>
        <p:nvSpPr>
          <p:cNvPr id="7" name="ISSUE_DESCRIPTION"/>
          <p:cNvSpPr txBox="1"/>
          <p:nvPr/>
        </p:nvSpPr>
        <p:spPr>
          <a:xfrm>
            <a:off x="502920" y="1408176"/>
            <a:ext cx="3794760" cy="1874519"/>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肋端最大壁厚 28.5 mm，存在热节与缩孔风险（ASTM E505 Level 4）</a:t>
            </a:r>
          </a:p>
        </p:txBody>
      </p:sp>
      <p:sp>
        <p:nvSpPr>
          <p:cNvPr id="8" name="STATIC_REC"/>
          <p:cNvSpPr txBox="1"/>
          <p:nvPr/>
        </p:nvSpPr>
        <p:spPr>
          <a:xfrm>
            <a:off x="502920" y="3520440"/>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优化建议</a:t>
            </a:r>
          </a:p>
        </p:txBody>
      </p:sp>
      <p:sp>
        <p:nvSpPr>
          <p:cNvPr id="9" name="ISSUE_RECOMMENDATION"/>
          <p:cNvSpPr txBox="1"/>
          <p:nvPr/>
        </p:nvSpPr>
        <p:spPr>
          <a:xfrm>
            <a:off x="502920" y="3904487"/>
            <a:ext cx="3794760" cy="1965960"/>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建议掏料减薄至约 6 mm 并增加点冷</a:t>
            </a:r>
          </a:p>
        </p:txBody>
      </p:sp>
      <p:sp>
        <p:nvSpPr>
          <p:cNvPr id="10" name="STATIC_IMAGE"/>
          <p:cNvSpPr txBox="1"/>
          <p:nvPr/>
        </p:nvSpPr>
        <p:spPr>
          <a:xfrm>
            <a:off x="4526280" y="1024128"/>
            <a:ext cx="713232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问题区域 / CAD 截图</a:t>
            </a:r>
          </a:p>
        </p:txBody>
      </p:sp>
      <p:sp>
        <p:nvSpPr>
          <p:cNvPr id="11" name="IMAGE_MAIN"/>
          <p:cNvSpPr/>
          <p:nvPr/>
        </p:nvSpPr>
        <p:spPr>
          <a:xfrm>
            <a:off x="4526280" y="1408176"/>
            <a:ext cx="7132320" cy="446227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ISSUE_TITLE"/>
          <p:cNvSpPr txBox="1"/>
          <p:nvPr/>
        </p:nvSpPr>
        <p:spPr>
          <a:xfrm>
            <a:off x="502920" y="274320"/>
            <a:ext cx="8412480" cy="530352"/>
          </a:xfrm>
          <a:prstGeom prst="rect">
            <a:avLst/>
          </a:prstGeom>
          <a:noFill/>
          <a:ln>
            <a:noFill/>
          </a:ln>
        </p:spPr>
        <p:txBody>
          <a:bodyPr wrap="square" anchor="ctr" lIns="76200" rIns="76200" tIns="25400" bIns="25400">
            <a:spAutoFit/>
          </a:bodyPr>
          <a:lstStyle/>
          <a:p>
            <a:pPr algn="l"/>
            <a:r>
              <a:rPr sz="2400" b="1">
                <a:solidFill>
                  <a:srgbClr val="002B67"/>
                </a:solidFill>
                <a:latin typeface="微软雅黑"/>
              </a:rPr>
              <a:t>反拔模区域需滑块抽芯，模具成本上升</a:t>
            </a:r>
          </a:p>
        </p:txBody>
      </p:sp>
      <p:sp>
        <p:nvSpPr>
          <p:cNvPr id="4" name="ISSUE_ID"/>
          <p:cNvSpPr txBox="1"/>
          <p:nvPr/>
        </p:nvSpPr>
        <p:spPr>
          <a:xfrm>
            <a:off x="9281160" y="310896"/>
            <a:ext cx="1234440" cy="384048"/>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2</a:t>
            </a:r>
          </a:p>
        </p:txBody>
      </p:sp>
      <p:sp>
        <p:nvSpPr>
          <p:cNvPr id="5" name="ISSUE_LEVEL"/>
          <p:cNvSpPr txBox="1"/>
          <p:nvPr/>
        </p:nvSpPr>
        <p:spPr>
          <a:xfrm>
            <a:off x="10652760" y="310896"/>
            <a:ext cx="1005840" cy="384048"/>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Unknown</a:t>
            </a:r>
          </a:p>
        </p:txBody>
      </p:sp>
      <p:sp>
        <p:nvSpPr>
          <p:cNvPr id="6" name="STATIC_DESC"/>
          <p:cNvSpPr txBox="1"/>
          <p:nvPr/>
        </p:nvSpPr>
        <p:spPr>
          <a:xfrm>
            <a:off x="502920" y="1024128"/>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问题描述</a:t>
            </a:r>
          </a:p>
        </p:txBody>
      </p:sp>
      <p:sp>
        <p:nvSpPr>
          <p:cNvPr id="7" name="ISSUE_DESCRIPTION"/>
          <p:cNvSpPr txBox="1"/>
          <p:nvPr/>
        </p:nvSpPr>
        <p:spPr>
          <a:xfrm>
            <a:off x="502920" y="1408176"/>
            <a:ext cx="3794760" cy="1874519"/>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反拔模区域需滑块抽芯，模具成本上升</a:t>
            </a:r>
          </a:p>
        </p:txBody>
      </p:sp>
      <p:sp>
        <p:nvSpPr>
          <p:cNvPr id="8" name="STATIC_REC"/>
          <p:cNvSpPr txBox="1"/>
          <p:nvPr/>
        </p:nvSpPr>
        <p:spPr>
          <a:xfrm>
            <a:off x="502920" y="3520440"/>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优化建议</a:t>
            </a:r>
          </a:p>
        </p:txBody>
      </p:sp>
      <p:sp>
        <p:nvSpPr>
          <p:cNvPr id="9" name="ISSUE_RECOMMENDATION"/>
          <p:cNvSpPr txBox="1"/>
          <p:nvPr/>
        </p:nvSpPr>
        <p:spPr>
          <a:xfrm>
            <a:off x="502920" y="3904487"/>
            <a:ext cx="3794760" cy="1965960"/>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评估产品局部减胶以避免滑块</a:t>
            </a:r>
          </a:p>
        </p:txBody>
      </p:sp>
      <p:sp>
        <p:nvSpPr>
          <p:cNvPr id="10" name="STATIC_IMAGE"/>
          <p:cNvSpPr txBox="1"/>
          <p:nvPr/>
        </p:nvSpPr>
        <p:spPr>
          <a:xfrm>
            <a:off x="4526280" y="1024128"/>
            <a:ext cx="713232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问题区域 / CAD 截图</a:t>
            </a:r>
          </a:p>
        </p:txBody>
      </p:sp>
      <p:sp>
        <p:nvSpPr>
          <p:cNvPr id="11" name="IMAGE_MAIN"/>
          <p:cNvSpPr/>
          <p:nvPr/>
        </p:nvSpPr>
        <p:spPr>
          <a:xfrm>
            <a:off x="4526280" y="1408176"/>
            <a:ext cx="7132320" cy="446227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LABEL_SUMMARY_TOTAL"/>
          <p:cNvSpPr txBox="1"/>
          <p:nvPr/>
        </p:nvSpPr>
        <p:spPr>
          <a:xfrm>
            <a:off x="2057400" y="5998464"/>
            <a:ext cx="1051560" cy="256032"/>
          </a:xfrm>
          <a:prstGeom prst="rect">
            <a:avLst/>
          </a:prstGeom>
          <a:noFill/>
          <a:ln>
            <a:noFill/>
          </a:ln>
        </p:spPr>
        <p:txBody>
          <a:bodyPr wrap="square" anchor="ctr" lIns="76200" rIns="76200" tIns="25400" bIns="25400">
            <a:spAutoFit/>
          </a:bodyPr>
          <a:lstStyle/>
          <a:p>
            <a:pPr algn="ctr"/>
            <a:r>
              <a:rPr sz="1200" b="1">
                <a:solidFill>
                  <a:srgbClr val="002B67"/>
                </a:solidFill>
                <a:latin typeface="微软雅黑"/>
              </a:rPr>
              <a:t>Total</a:t>
            </a:r>
          </a:p>
        </p:txBody>
      </p:sp>
      <p:sp>
        <p:nvSpPr>
          <p:cNvPr id="4" name="SUMMARY_TOTAL"/>
          <p:cNvSpPr txBox="1"/>
          <p:nvPr/>
        </p:nvSpPr>
        <p:spPr>
          <a:xfrm>
            <a:off x="2057400" y="6291072"/>
            <a:ext cx="1051560" cy="310896"/>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2</a:t>
            </a:r>
          </a:p>
        </p:txBody>
      </p:sp>
      <p:sp>
        <p:nvSpPr>
          <p:cNvPr id="5" name="LABEL_SUMMARY_CRITICAL"/>
          <p:cNvSpPr txBox="1"/>
          <p:nvPr/>
        </p:nvSpPr>
        <p:spPr>
          <a:xfrm>
            <a:off x="4617720" y="5998464"/>
            <a:ext cx="1051560" cy="256032"/>
          </a:xfrm>
          <a:prstGeom prst="rect">
            <a:avLst/>
          </a:prstGeom>
          <a:noFill/>
          <a:ln>
            <a:noFill/>
          </a:ln>
        </p:spPr>
        <p:txBody>
          <a:bodyPr wrap="square" anchor="ctr" lIns="76200" rIns="76200" tIns="25400" bIns="25400">
            <a:spAutoFit/>
          </a:bodyPr>
          <a:lstStyle/>
          <a:p>
            <a:pPr algn="ctr"/>
            <a:r>
              <a:rPr sz="1200" b="1">
                <a:solidFill>
                  <a:srgbClr val="C00000"/>
                </a:solidFill>
                <a:latin typeface="微软雅黑"/>
              </a:rPr>
              <a:t>Critical</a:t>
            </a:r>
          </a:p>
        </p:txBody>
      </p:sp>
      <p:sp>
        <p:nvSpPr>
          <p:cNvPr id="6" name="SUMMARY_CRITICAL"/>
          <p:cNvSpPr txBox="1"/>
          <p:nvPr/>
        </p:nvSpPr>
        <p:spPr>
          <a:xfrm>
            <a:off x="4617720" y="6291072"/>
            <a:ext cx="1051560" cy="310896"/>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0</a:t>
            </a:r>
          </a:p>
        </p:txBody>
      </p:sp>
      <p:sp>
        <p:nvSpPr>
          <p:cNvPr id="7" name="LABEL_SUMMARY_MAJOR"/>
          <p:cNvSpPr txBox="1"/>
          <p:nvPr/>
        </p:nvSpPr>
        <p:spPr>
          <a:xfrm>
            <a:off x="7178040" y="5998464"/>
            <a:ext cx="1051560" cy="256032"/>
          </a:xfrm>
          <a:prstGeom prst="rect">
            <a:avLst/>
          </a:prstGeom>
          <a:noFill/>
          <a:ln>
            <a:noFill/>
          </a:ln>
        </p:spPr>
        <p:txBody>
          <a:bodyPr wrap="square" anchor="ctr" lIns="76200" rIns="76200" tIns="25400" bIns="25400">
            <a:spAutoFit/>
          </a:bodyPr>
          <a:lstStyle/>
          <a:p>
            <a:pPr algn="ctr"/>
            <a:r>
              <a:rPr sz="1200" b="1">
                <a:solidFill>
                  <a:srgbClr val="BF7600"/>
                </a:solidFill>
                <a:latin typeface="微软雅黑"/>
              </a:rPr>
              <a:t>Major</a:t>
            </a:r>
          </a:p>
        </p:txBody>
      </p:sp>
      <p:sp>
        <p:nvSpPr>
          <p:cNvPr id="8" name="SUMMARY_MAJOR"/>
          <p:cNvSpPr txBox="1"/>
          <p:nvPr/>
        </p:nvSpPr>
        <p:spPr>
          <a:xfrm>
            <a:off x="7178040" y="6291072"/>
            <a:ext cx="1051560" cy="310896"/>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0</a:t>
            </a:r>
          </a:p>
        </p:txBody>
      </p:sp>
      <p:sp>
        <p:nvSpPr>
          <p:cNvPr id="9" name="LABEL_SUMMARY_MINOR"/>
          <p:cNvSpPr txBox="1"/>
          <p:nvPr/>
        </p:nvSpPr>
        <p:spPr>
          <a:xfrm>
            <a:off x="9738360" y="5998464"/>
            <a:ext cx="1051560" cy="256032"/>
          </a:xfrm>
          <a:prstGeom prst="rect">
            <a:avLst/>
          </a:prstGeom>
          <a:noFill/>
          <a:ln>
            <a:noFill/>
          </a:ln>
        </p:spPr>
        <p:txBody>
          <a:bodyPr wrap="square" anchor="ctr" lIns="76200" rIns="76200" tIns="25400" bIns="25400">
            <a:spAutoFit/>
          </a:bodyPr>
          <a:lstStyle/>
          <a:p>
            <a:pPr algn="ctr"/>
            <a:r>
              <a:rPr sz="1200" b="1">
                <a:solidFill>
                  <a:srgbClr val="548235"/>
                </a:solidFill>
                <a:latin typeface="微软雅黑"/>
              </a:rPr>
              <a:t>Minor</a:t>
            </a:r>
          </a:p>
        </p:txBody>
      </p:sp>
      <p:sp>
        <p:nvSpPr>
          <p:cNvPr id="10" name="SUMMARY_MINOR"/>
          <p:cNvSpPr txBox="1"/>
          <p:nvPr/>
        </p:nvSpPr>
        <p:spPr>
          <a:xfrm>
            <a:off x="9738360" y="6291072"/>
            <a:ext cx="1051560" cy="310896"/>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548e2bd-992a-4bfc-bfee-24f9c7908a23"/>
  <p:tag name="COMMONDATA" val="eyJoZGlkIjoiZmJlOTNkOTVlN2U0NTVhZGYzMzI2ZGU1ZjA5MjE4NTAifQ=="/>
  <p:tag name="RESOURCE_RECORD_KEY" val="{&quot;29&quot;:[20750925]}"/>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UNIT_TABLE_BEAUTIFY" val="smartTable{82d6a658-21d8-4454-9b99-058afe2e65a2}"/>
  <p:tag name="TABLE_ENDDRAG_ORIGIN_RECT" val="947*471"/>
  <p:tag name="TABLE_ENDDRAG_RECT" val="6*59*947*471"/>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PT模板字体">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12033</Words>
  <Application>Microsoft Office PowerPoint</Application>
  <PresentationFormat>宽屏</PresentationFormat>
  <Paragraphs>2131</Paragraphs>
  <Slides>84</Slides>
  <Notes>77</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84</vt:i4>
      </vt:variant>
    </vt:vector>
  </HeadingPairs>
  <TitlesOfParts>
    <vt:vector size="101" baseType="lpstr">
      <vt:lpstr>MS PGothic</vt:lpstr>
      <vt:lpstr>等线</vt:lpstr>
      <vt:lpstr>黑体</vt:lpstr>
      <vt:lpstr>华文细黑</vt:lpstr>
      <vt:lpstr>楷体</vt:lpstr>
      <vt:lpstr>宋体</vt:lpstr>
      <vt:lpstr>微软雅黑</vt:lpstr>
      <vt:lpstr>微软雅黑 Light</vt:lpstr>
      <vt:lpstr>Arial</vt:lpstr>
      <vt:lpstr>Calibri</vt:lpstr>
      <vt:lpstr>Times New Roman</vt:lpstr>
      <vt:lpstr>Wingdings</vt:lpstr>
      <vt:lpstr>Office 主题​​</vt:lpstr>
      <vt:lpstr>公式</vt:lpstr>
      <vt:lpstr>ZWCAD.Drawing</vt:lpstr>
      <vt:lpstr>Microsoft Excel Worksheet</vt:lpstr>
      <vt:lpstr>Microsoft PowerPoint 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问题清单</vt:lpstr>
      <vt:lpstr>PowerPoint 演示文稿</vt:lpstr>
      <vt:lpstr>技术应用分享</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 Named-Shape Master Template</dc:title>
  <dc:creator>傅子豪</dc:creator>
  <cp:keywords>template_version=1;generator_version=0.1-stage8</cp:keywords>
  <cp:lastModifiedBy>立松 赵</cp:lastModifiedBy>
  <cp:revision>2795</cp:revision>
  <cp:lastPrinted>2021-10-26T11:22:00Z</cp:lastPrinted>
  <dcterms:created xsi:type="dcterms:W3CDTF">2019-03-29T03:10:00Z</dcterms:created>
  <dcterms:modified xsi:type="dcterms:W3CDTF">2026-09-02T01:49:50Z</dcterms:modified>
  <dc:subject>DFM report TP-HPDC-2026-0087-A1</dc:subject>
  <dc:description>report_id=TP-HPDC-2026-0087-A1;project_id=TP-HPDC-2026-0087;generated_at=2026-09-02T10:41:20.545367</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278B69175F9A42A492AFD9E07CF50F34_13</vt:lpwstr>
  </property>
</Properties>
</file>